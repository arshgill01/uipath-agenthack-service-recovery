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1234440" y="1965960"/>
            <a:ext cx="9692640" cy="658368"/>
          </a:xfrm>
          <a:prstGeom prst="rect">
            <a:avLst/>
          </a:prstGeom>
          <a:noFill/>
        </p:spPr>
        <p:txBody>
          <a:bodyPr wrap="none">
            <a:spAutoFit/>
          </a:bodyPr>
          <a:lstStyle/>
          <a:p>
            <a:pPr algn="ctr"/>
            <a:r>
              <a:rPr sz="4000" b="0">
                <a:solidFill>
                  <a:srgbClr val="141413"/>
                </a:solidFill>
                <a:latin typeface="Georgia"/>
              </a:rPr>
              <a:t>ClearPath Recovery</a:t>
            </a:r>
          </a:p>
        </p:txBody>
      </p:sp>
      <p:sp>
        <p:nvSpPr>
          <p:cNvPr id="3" name="TextBox 2"/>
          <p:cNvSpPr txBox="1"/>
          <p:nvPr/>
        </p:nvSpPr>
        <p:spPr>
          <a:xfrm>
            <a:off x="2011680" y="2743200"/>
            <a:ext cx="8138160" cy="621792"/>
          </a:xfrm>
          <a:prstGeom prst="rect">
            <a:avLst/>
          </a:prstGeom>
          <a:noFill/>
        </p:spPr>
        <p:txBody>
          <a:bodyPr wrap="none">
            <a:spAutoFit/>
          </a:bodyPr>
          <a:lstStyle/>
          <a:p>
            <a:pPr algn="ctr"/>
            <a:r>
              <a:rPr sz="1600" b="0">
                <a:solidFill>
                  <a:srgbClr val="504E49"/>
                </a:solidFill>
                <a:latin typeface="Georgia"/>
              </a:rPr>
              <a:t>A UiPath Maestro Case workflow that prevents telecom service cases from closing until authoritative evidence proves recovery.</a:t>
            </a:r>
          </a:p>
        </p:txBody>
      </p:sp>
      <p:sp>
        <p:nvSpPr>
          <p:cNvPr id="4" name="TextBox 3"/>
          <p:cNvSpPr txBox="1"/>
          <p:nvPr/>
        </p:nvSpPr>
        <p:spPr>
          <a:xfrm>
            <a:off x="2286000" y="3730752"/>
            <a:ext cx="7680960" cy="237744"/>
          </a:xfrm>
          <a:prstGeom prst="rect">
            <a:avLst/>
          </a:prstGeom>
          <a:noFill/>
        </p:spPr>
        <p:txBody>
          <a:bodyPr wrap="none">
            <a:spAutoFit/>
          </a:bodyPr>
          <a:lstStyle/>
          <a:p>
            <a:pPr algn="ctr"/>
            <a:r>
              <a:rPr sz="950" b="0">
                <a:solidFill>
                  <a:srgbClr val="6B6A64"/>
                </a:solidFill>
                <a:latin typeface="Menlo"/>
              </a:rPr>
              <a:t>Track 1 · Maestro Case · Governed Telecom Recovery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502920" y="347472"/>
            <a:ext cx="10789920" cy="228600"/>
          </a:xfrm>
          <a:prstGeom prst="rect">
            <a:avLst/>
          </a:prstGeom>
          <a:noFill/>
        </p:spPr>
        <p:txBody>
          <a:bodyPr wrap="none">
            <a:spAutoFit/>
          </a:bodyPr>
          <a:lstStyle/>
          <a:p>
            <a:r>
              <a:rPr sz="850" b="0">
                <a:solidFill>
                  <a:srgbClr val="6B6A64"/>
                </a:solidFill>
                <a:latin typeface="Menlo"/>
              </a:rPr>
              <a:t>02 · PROBLEM AND SOLUTION</a:t>
            </a:r>
          </a:p>
        </p:txBody>
      </p:sp>
      <p:sp>
        <p:nvSpPr>
          <p:cNvPr id="3" name="TextBox 2"/>
          <p:cNvSpPr txBox="1"/>
          <p:nvPr/>
        </p:nvSpPr>
        <p:spPr>
          <a:xfrm>
            <a:off x="502920" y="640080"/>
            <a:ext cx="10789920" cy="777240"/>
          </a:xfrm>
          <a:prstGeom prst="rect">
            <a:avLst/>
          </a:prstGeom>
          <a:noFill/>
        </p:spPr>
        <p:txBody>
          <a:bodyPr wrap="none">
            <a:spAutoFit/>
          </a:bodyPr>
          <a:lstStyle/>
          <a:p>
            <a:r>
              <a:rPr sz="2700" b="0">
                <a:solidFill>
                  <a:srgbClr val="141413"/>
                </a:solidFill>
                <a:latin typeface="Georgia"/>
              </a:rPr>
              <a:t>Problem statement and proposed solution</a:t>
            </a:r>
          </a:p>
        </p:txBody>
      </p:sp>
      <p:sp>
        <p:nvSpPr>
          <p:cNvPr id="4" name="Rectangle 3"/>
          <p:cNvSpPr/>
          <p:nvPr/>
        </p:nvSpPr>
        <p:spPr>
          <a:xfrm>
            <a:off x="713232" y="1783080"/>
            <a:ext cx="5166360" cy="3246120"/>
          </a:xfrm>
          <a:prstGeom prst="rect">
            <a:avLst/>
          </a:prstGeom>
          <a:solidFill>
            <a:srgbClr val="FAF9F5"/>
          </a:solidFill>
          <a:ln>
            <a:solidFill>
              <a:srgbClr val="E8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911095"/>
            <a:ext cx="4837176" cy="256032"/>
          </a:xfrm>
          <a:prstGeom prst="rect">
            <a:avLst/>
          </a:prstGeom>
          <a:noFill/>
        </p:spPr>
        <p:txBody>
          <a:bodyPr wrap="none">
            <a:spAutoFit/>
          </a:bodyPr>
          <a:lstStyle/>
          <a:p>
            <a:r>
              <a:rPr sz="1400" b="0">
                <a:solidFill>
                  <a:srgbClr val="1B365D"/>
                </a:solidFill>
                <a:latin typeface="Georgia"/>
              </a:rPr>
              <a:t>Problem</a:t>
            </a:r>
          </a:p>
        </p:txBody>
      </p:sp>
      <p:sp>
        <p:nvSpPr>
          <p:cNvPr id="6" name="TextBox 5"/>
          <p:cNvSpPr txBox="1"/>
          <p:nvPr/>
        </p:nvSpPr>
        <p:spPr>
          <a:xfrm>
            <a:off x="877824" y="2276856"/>
            <a:ext cx="4837176" cy="2679191"/>
          </a:xfrm>
          <a:prstGeom prst="rect">
            <a:avLst/>
          </a:prstGeom>
          <a:noFill/>
        </p:spPr>
        <p:txBody>
          <a:bodyPr wrap="none">
            <a:spAutoFit/>
          </a:bodyPr>
          <a:lstStyle/>
          <a:p>
            <a:r>
              <a:rPr sz="1120" b="0">
                <a:solidFill>
                  <a:srgbClr val="3D3D3A"/>
                </a:solidFill>
                <a:latin typeface="Georgia"/>
              </a:rPr>
              <a:t>Telecom service recovery can look complete in CRM, order, billing, and support systems while the customer still lacks working service. The danger is wrongful closure, repeat contact, SLA exposure, and an audit trail that cannot explain why the case closed.</a:t>
            </a:r>
          </a:p>
        </p:txBody>
      </p:sp>
      <p:sp>
        <p:nvSpPr>
          <p:cNvPr id="7" name="Rectangle 6"/>
          <p:cNvSpPr/>
          <p:nvPr/>
        </p:nvSpPr>
        <p:spPr>
          <a:xfrm>
            <a:off x="6309360" y="1783080"/>
            <a:ext cx="5166360" cy="3246120"/>
          </a:xfrm>
          <a:prstGeom prst="rect">
            <a:avLst/>
          </a:prstGeom>
          <a:solidFill>
            <a:srgbClr val="FAF9F5"/>
          </a:solidFill>
          <a:ln>
            <a:solidFill>
              <a:srgbClr val="E8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911095"/>
            <a:ext cx="4837176" cy="256032"/>
          </a:xfrm>
          <a:prstGeom prst="rect">
            <a:avLst/>
          </a:prstGeom>
          <a:noFill/>
        </p:spPr>
        <p:txBody>
          <a:bodyPr wrap="none">
            <a:spAutoFit/>
          </a:bodyPr>
          <a:lstStyle/>
          <a:p>
            <a:r>
              <a:rPr sz="1400" b="0">
                <a:solidFill>
                  <a:srgbClr val="1B365D"/>
                </a:solidFill>
                <a:latin typeface="Georgia"/>
              </a:rPr>
              <a:t>Solution</a:t>
            </a:r>
          </a:p>
        </p:txBody>
      </p:sp>
      <p:sp>
        <p:nvSpPr>
          <p:cNvPr id="9" name="TextBox 8"/>
          <p:cNvSpPr txBox="1"/>
          <p:nvPr/>
        </p:nvSpPr>
        <p:spPr>
          <a:xfrm>
            <a:off x="6473952" y="2276856"/>
            <a:ext cx="4837176" cy="2679191"/>
          </a:xfrm>
          <a:prstGeom prst="rect">
            <a:avLst/>
          </a:prstGeom>
          <a:noFill/>
        </p:spPr>
        <p:txBody>
          <a:bodyPr wrap="none">
            <a:spAutoFit/>
          </a:bodyPr>
          <a:lstStyle/>
          <a:p>
            <a:r>
              <a:rPr sz="1120" b="0">
                <a:solidFill>
                  <a:srgbClr val="3D3D3A"/>
                </a:solidFill>
                <a:latin typeface="Georgia"/>
              </a:rPr>
              <a:t>ClearPath Recovery uses agents to interpret ambiguous evidence into structured signals, deterministic policy to decide whether closure is allowed, Maestro Case to route dynamic exceptions, Action Center for human review, and Data Fabric/Orchestrator for durable audit proof.</a:t>
            </a:r>
          </a:p>
        </p:txBody>
      </p:sp>
      <p:sp>
        <p:nvSpPr>
          <p:cNvPr id="10" name="TextBox 9"/>
          <p:cNvSpPr txBox="1"/>
          <p:nvPr/>
        </p:nvSpPr>
        <p:spPr>
          <a:xfrm>
            <a:off x="566928" y="5815584"/>
            <a:ext cx="10607040" cy="438912"/>
          </a:xfrm>
          <a:prstGeom prst="rect">
            <a:avLst/>
          </a:prstGeom>
          <a:noFill/>
        </p:spPr>
        <p:txBody>
          <a:bodyPr wrap="none">
            <a:spAutoFit/>
          </a:bodyPr>
          <a:lstStyle/>
          <a:p>
            <a:r>
              <a:rPr sz="1320" b="0">
                <a:solidFill>
                  <a:srgbClr val="1B365D"/>
                </a:solidFill>
                <a:latin typeface="Georgia"/>
              </a:rPr>
              <a:t>Agents interpret. Policy decides. Maestro routes. Humans own exceptions.</a:t>
            </a:r>
          </a:p>
        </p:txBody>
      </p:sp>
      <p:sp>
        <p:nvSpPr>
          <p:cNvPr id="11" name="TextBox 10"/>
          <p:cNvSpPr txBox="1"/>
          <p:nvPr/>
        </p:nvSpPr>
        <p:spPr>
          <a:xfrm>
            <a:off x="502920" y="6446520"/>
            <a:ext cx="2926080" cy="164592"/>
          </a:xfrm>
          <a:prstGeom prst="rect">
            <a:avLst/>
          </a:prstGeom>
          <a:noFill/>
        </p:spPr>
        <p:txBody>
          <a:bodyPr wrap="none">
            <a:spAutoFit/>
          </a:bodyPr>
          <a:lstStyle/>
          <a:p>
            <a:r>
              <a:rPr sz="800" b="0">
                <a:solidFill>
                  <a:srgbClr val="6B6A64"/>
                </a:solidFill>
                <a:latin typeface="Menlo"/>
              </a:rPr>
              <a:t>SERVICE RECOVERY</a:t>
            </a:r>
          </a:p>
        </p:txBody>
      </p:sp>
      <p:sp>
        <p:nvSpPr>
          <p:cNvPr id="12" name="TextBox 11"/>
          <p:cNvSpPr txBox="1"/>
          <p:nvPr/>
        </p:nvSpPr>
        <p:spPr>
          <a:xfrm>
            <a:off x="11018520" y="6446520"/>
            <a:ext cx="502920" cy="164592"/>
          </a:xfrm>
          <a:prstGeom prst="rect">
            <a:avLst/>
          </a:prstGeom>
          <a:noFill/>
        </p:spPr>
        <p:txBody>
          <a:bodyPr wrap="none">
            <a:spAutoFit/>
          </a:bodyPr>
          <a:lstStyle/>
          <a:p>
            <a:pPr algn="r"/>
            <a:r>
              <a:rPr sz="800" b="0">
                <a:solidFill>
                  <a:srgbClr val="6B6A64"/>
                </a:solidFill>
                <a:latin typeface="Menl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502920" y="347472"/>
            <a:ext cx="10789920" cy="228600"/>
          </a:xfrm>
          <a:prstGeom prst="rect">
            <a:avLst/>
          </a:prstGeom>
          <a:noFill/>
        </p:spPr>
        <p:txBody>
          <a:bodyPr wrap="none">
            <a:spAutoFit/>
          </a:bodyPr>
          <a:lstStyle/>
          <a:p>
            <a:r>
              <a:rPr sz="850" b="0">
                <a:solidFill>
                  <a:srgbClr val="6B6A64"/>
                </a:solidFill>
                <a:latin typeface="Menlo"/>
              </a:rPr>
              <a:t>03 · BENEFITS AND TECHNOLOGIES</a:t>
            </a:r>
          </a:p>
        </p:txBody>
      </p:sp>
      <p:sp>
        <p:nvSpPr>
          <p:cNvPr id="3" name="TextBox 2"/>
          <p:cNvSpPr txBox="1"/>
          <p:nvPr/>
        </p:nvSpPr>
        <p:spPr>
          <a:xfrm>
            <a:off x="502920" y="640080"/>
            <a:ext cx="10789920" cy="777240"/>
          </a:xfrm>
          <a:prstGeom prst="rect">
            <a:avLst/>
          </a:prstGeom>
          <a:noFill/>
        </p:spPr>
        <p:txBody>
          <a:bodyPr wrap="none">
            <a:spAutoFit/>
          </a:bodyPr>
          <a:lstStyle/>
          <a:p>
            <a:r>
              <a:rPr sz="2700" b="0">
                <a:solidFill>
                  <a:srgbClr val="141413"/>
                </a:solidFill>
                <a:latin typeface="Georgia"/>
              </a:rPr>
              <a:t>Benefits and technologies used</a:t>
            </a:r>
          </a:p>
        </p:txBody>
      </p:sp>
      <p:sp>
        <p:nvSpPr>
          <p:cNvPr id="4" name="TextBox 3"/>
          <p:cNvSpPr txBox="1"/>
          <p:nvPr/>
        </p:nvSpPr>
        <p:spPr>
          <a:xfrm>
            <a:off x="713232" y="1609344"/>
            <a:ext cx="1965960" cy="292608"/>
          </a:xfrm>
          <a:prstGeom prst="rect">
            <a:avLst/>
          </a:prstGeom>
          <a:noFill/>
        </p:spPr>
        <p:txBody>
          <a:bodyPr wrap="none">
            <a:spAutoFit/>
          </a:bodyPr>
          <a:lstStyle/>
          <a:p>
            <a:r>
              <a:rPr sz="1240" b="0">
                <a:solidFill>
                  <a:srgbClr val="1B365D"/>
                </a:solidFill>
                <a:latin typeface="Georgia"/>
              </a:rPr>
              <a:t>End user</a:t>
            </a:r>
          </a:p>
        </p:txBody>
      </p:sp>
      <p:sp>
        <p:nvSpPr>
          <p:cNvPr id="5" name="TextBox 4"/>
          <p:cNvSpPr txBox="1"/>
          <p:nvPr/>
        </p:nvSpPr>
        <p:spPr>
          <a:xfrm>
            <a:off x="2761488" y="1609344"/>
            <a:ext cx="8549640" cy="329184"/>
          </a:xfrm>
          <a:prstGeom prst="rect">
            <a:avLst/>
          </a:prstGeom>
          <a:noFill/>
        </p:spPr>
        <p:txBody>
          <a:bodyPr wrap="none">
            <a:spAutoFit/>
          </a:bodyPr>
          <a:lstStyle/>
          <a:p>
            <a:r>
              <a:rPr sz="1220" b="0">
                <a:solidFill>
                  <a:srgbClr val="3D3D3A"/>
                </a:solidFill>
                <a:latin typeface="Georgia"/>
              </a:rPr>
              <a:t>Telecom service recovery teams, activation/restoration owners, exception reviewers, audit/compliance teams.</a:t>
            </a:r>
          </a:p>
        </p:txBody>
      </p:sp>
      <p:sp>
        <p:nvSpPr>
          <p:cNvPr id="6" name="TextBox 5"/>
          <p:cNvSpPr txBox="1"/>
          <p:nvPr/>
        </p:nvSpPr>
        <p:spPr>
          <a:xfrm>
            <a:off x="713232" y="2139696"/>
            <a:ext cx="1965960" cy="292608"/>
          </a:xfrm>
          <a:prstGeom prst="rect">
            <a:avLst/>
          </a:prstGeom>
          <a:noFill/>
        </p:spPr>
        <p:txBody>
          <a:bodyPr wrap="none">
            <a:spAutoFit/>
          </a:bodyPr>
          <a:lstStyle/>
          <a:p>
            <a:r>
              <a:rPr sz="1240" b="0">
                <a:solidFill>
                  <a:srgbClr val="1B365D"/>
                </a:solidFill>
                <a:latin typeface="Georgia"/>
              </a:rPr>
              <a:t>User department</a:t>
            </a:r>
          </a:p>
        </p:txBody>
      </p:sp>
      <p:sp>
        <p:nvSpPr>
          <p:cNvPr id="7" name="TextBox 6"/>
          <p:cNvSpPr txBox="1"/>
          <p:nvPr/>
        </p:nvSpPr>
        <p:spPr>
          <a:xfrm>
            <a:off x="2761488" y="2139696"/>
            <a:ext cx="8549640" cy="329184"/>
          </a:xfrm>
          <a:prstGeom prst="rect">
            <a:avLst/>
          </a:prstGeom>
          <a:noFill/>
        </p:spPr>
        <p:txBody>
          <a:bodyPr wrap="none">
            <a:spAutoFit/>
          </a:bodyPr>
          <a:lstStyle/>
          <a:p>
            <a:r>
              <a:rPr sz="1220" b="0">
                <a:solidFill>
                  <a:srgbClr val="3D3D3A"/>
                </a:solidFill>
                <a:latin typeface="Georgia"/>
              </a:rPr>
              <a:t>Customer operations, network operations, field operations, service assurance, compliance.</a:t>
            </a:r>
          </a:p>
        </p:txBody>
      </p:sp>
      <p:sp>
        <p:nvSpPr>
          <p:cNvPr id="8" name="TextBox 7"/>
          <p:cNvSpPr txBox="1"/>
          <p:nvPr/>
        </p:nvSpPr>
        <p:spPr>
          <a:xfrm>
            <a:off x="713232" y="2670048"/>
            <a:ext cx="1965960" cy="292608"/>
          </a:xfrm>
          <a:prstGeom prst="rect">
            <a:avLst/>
          </a:prstGeom>
          <a:noFill/>
        </p:spPr>
        <p:txBody>
          <a:bodyPr wrap="none">
            <a:spAutoFit/>
          </a:bodyPr>
          <a:lstStyle/>
          <a:p>
            <a:r>
              <a:rPr sz="1240" b="0">
                <a:solidFill>
                  <a:srgbClr val="1B365D"/>
                </a:solidFill>
                <a:latin typeface="Georgia"/>
              </a:rPr>
              <a:t>Industries</a:t>
            </a:r>
          </a:p>
        </p:txBody>
      </p:sp>
      <p:sp>
        <p:nvSpPr>
          <p:cNvPr id="9" name="TextBox 8"/>
          <p:cNvSpPr txBox="1"/>
          <p:nvPr/>
        </p:nvSpPr>
        <p:spPr>
          <a:xfrm>
            <a:off x="2761488" y="2670048"/>
            <a:ext cx="8549640" cy="329184"/>
          </a:xfrm>
          <a:prstGeom prst="rect">
            <a:avLst/>
          </a:prstGeom>
          <a:noFill/>
        </p:spPr>
        <p:txBody>
          <a:bodyPr wrap="none">
            <a:spAutoFit/>
          </a:bodyPr>
          <a:lstStyle/>
          <a:p>
            <a:r>
              <a:rPr sz="1220" b="0">
                <a:solidFill>
                  <a:srgbClr val="3D3D3A"/>
                </a:solidFill>
                <a:latin typeface="Georgia"/>
              </a:rPr>
              <a:t>Telecom, broadband, managed connectivity, enterprise service operations.</a:t>
            </a:r>
          </a:p>
        </p:txBody>
      </p:sp>
      <p:sp>
        <p:nvSpPr>
          <p:cNvPr id="10" name="TextBox 9"/>
          <p:cNvSpPr txBox="1"/>
          <p:nvPr/>
        </p:nvSpPr>
        <p:spPr>
          <a:xfrm>
            <a:off x="713232" y="3200400"/>
            <a:ext cx="1965960" cy="292608"/>
          </a:xfrm>
          <a:prstGeom prst="rect">
            <a:avLst/>
          </a:prstGeom>
          <a:noFill/>
        </p:spPr>
        <p:txBody>
          <a:bodyPr wrap="none">
            <a:spAutoFit/>
          </a:bodyPr>
          <a:lstStyle/>
          <a:p>
            <a:r>
              <a:rPr sz="1240" b="0">
                <a:solidFill>
                  <a:srgbClr val="1B365D"/>
                </a:solidFill>
                <a:latin typeface="Georgia"/>
              </a:rPr>
              <a:t>UiPath products used</a:t>
            </a:r>
          </a:p>
        </p:txBody>
      </p:sp>
      <p:sp>
        <p:nvSpPr>
          <p:cNvPr id="11" name="TextBox 10"/>
          <p:cNvSpPr txBox="1"/>
          <p:nvPr/>
        </p:nvSpPr>
        <p:spPr>
          <a:xfrm>
            <a:off x="2761488" y="3200400"/>
            <a:ext cx="8549640" cy="329184"/>
          </a:xfrm>
          <a:prstGeom prst="rect">
            <a:avLst/>
          </a:prstGeom>
          <a:noFill/>
        </p:spPr>
        <p:txBody>
          <a:bodyPr wrap="none">
            <a:spAutoFit/>
          </a:bodyPr>
          <a:lstStyle/>
          <a:p>
            <a:r>
              <a:rPr sz="1220" b="0">
                <a:solidFill>
                  <a:srgbClr val="3D3D3A"/>
                </a:solidFill>
                <a:latin typeface="Georgia"/>
              </a:rPr>
              <a:t>Maestro Case, Action Center, Orchestrator, Data Fabric, Test Manager, UiPath CLI.</a:t>
            </a:r>
          </a:p>
        </p:txBody>
      </p:sp>
      <p:sp>
        <p:nvSpPr>
          <p:cNvPr id="12" name="TextBox 11"/>
          <p:cNvSpPr txBox="1"/>
          <p:nvPr/>
        </p:nvSpPr>
        <p:spPr>
          <a:xfrm>
            <a:off x="713232" y="3730752"/>
            <a:ext cx="1965960" cy="292608"/>
          </a:xfrm>
          <a:prstGeom prst="rect">
            <a:avLst/>
          </a:prstGeom>
          <a:noFill/>
        </p:spPr>
        <p:txBody>
          <a:bodyPr wrap="none">
            <a:spAutoFit/>
          </a:bodyPr>
          <a:lstStyle/>
          <a:p>
            <a:r>
              <a:rPr sz="1240" b="0">
                <a:solidFill>
                  <a:srgbClr val="1B365D"/>
                </a:solidFill>
                <a:latin typeface="Georgia"/>
              </a:rPr>
              <a:t>Other integrations / APIs</a:t>
            </a:r>
          </a:p>
        </p:txBody>
      </p:sp>
      <p:sp>
        <p:nvSpPr>
          <p:cNvPr id="13" name="TextBox 12"/>
          <p:cNvSpPr txBox="1"/>
          <p:nvPr/>
        </p:nvSpPr>
        <p:spPr>
          <a:xfrm>
            <a:off x="2761488" y="3730752"/>
            <a:ext cx="8549640" cy="329184"/>
          </a:xfrm>
          <a:prstGeom prst="rect">
            <a:avLst/>
          </a:prstGeom>
          <a:noFill/>
        </p:spPr>
        <p:txBody>
          <a:bodyPr wrap="none">
            <a:spAutoFit/>
          </a:bodyPr>
          <a:lstStyle/>
          <a:p>
            <a:r>
              <a:rPr sz="1220" b="0">
                <a:solidFill>
                  <a:srgbClr val="3D3D3A"/>
                </a:solidFill>
                <a:latin typeface="Georgia"/>
              </a:rPr>
              <a:t>Simulated CRM/order, billing, network telemetry, inventory, dispatch, support notes; optional Gemini/Vertex LLM interpreter.</a:t>
            </a:r>
          </a:p>
        </p:txBody>
      </p:sp>
      <p:sp>
        <p:nvSpPr>
          <p:cNvPr id="14" name="TextBox 13"/>
          <p:cNvSpPr txBox="1"/>
          <p:nvPr/>
        </p:nvSpPr>
        <p:spPr>
          <a:xfrm>
            <a:off x="713232" y="4498848"/>
            <a:ext cx="10332720" cy="594360"/>
          </a:xfrm>
          <a:prstGeom prst="rect">
            <a:avLst/>
          </a:prstGeom>
          <a:noFill/>
        </p:spPr>
        <p:txBody>
          <a:bodyPr wrap="none">
            <a:spAutoFit/>
          </a:bodyPr>
          <a:lstStyle/>
          <a:p>
            <a:r>
              <a:rPr sz="1320" b="0">
                <a:solidFill>
                  <a:srgbClr val="1B365D"/>
                </a:solidFill>
                <a:latin typeface="Georgia"/>
              </a:rPr>
              <a:t>Benefits: fewer wrongful closures, lower repeat contacts, better SLA control, safer agent adoption, and an auditable chain from raw agent recommendation to policy decision to human action.</a:t>
            </a:r>
          </a:p>
        </p:txBody>
      </p:sp>
      <p:sp>
        <p:nvSpPr>
          <p:cNvPr id="15" name="TextBox 14"/>
          <p:cNvSpPr txBox="1"/>
          <p:nvPr/>
        </p:nvSpPr>
        <p:spPr>
          <a:xfrm>
            <a:off x="502920" y="6446520"/>
            <a:ext cx="2926080" cy="164592"/>
          </a:xfrm>
          <a:prstGeom prst="rect">
            <a:avLst/>
          </a:prstGeom>
          <a:noFill/>
        </p:spPr>
        <p:txBody>
          <a:bodyPr wrap="none">
            <a:spAutoFit/>
          </a:bodyPr>
          <a:lstStyle/>
          <a:p>
            <a:r>
              <a:rPr sz="800" b="0">
                <a:solidFill>
                  <a:srgbClr val="6B6A64"/>
                </a:solidFill>
                <a:latin typeface="Menlo"/>
              </a:rPr>
              <a:t>SERVICE RECOVERY</a:t>
            </a:r>
          </a:p>
        </p:txBody>
      </p:sp>
      <p:sp>
        <p:nvSpPr>
          <p:cNvPr id="16" name="TextBox 15"/>
          <p:cNvSpPr txBox="1"/>
          <p:nvPr/>
        </p:nvSpPr>
        <p:spPr>
          <a:xfrm>
            <a:off x="11018520" y="6446520"/>
            <a:ext cx="502920" cy="164592"/>
          </a:xfrm>
          <a:prstGeom prst="rect">
            <a:avLst/>
          </a:prstGeom>
          <a:noFill/>
        </p:spPr>
        <p:txBody>
          <a:bodyPr wrap="none">
            <a:spAutoFit/>
          </a:bodyPr>
          <a:lstStyle/>
          <a:p>
            <a:pPr algn="r"/>
            <a:r>
              <a:rPr sz="800" b="0">
                <a:solidFill>
                  <a:srgbClr val="6B6A64"/>
                </a:solidFill>
                <a:latin typeface="Menl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502920" y="347472"/>
            <a:ext cx="10789920" cy="228600"/>
          </a:xfrm>
          <a:prstGeom prst="rect">
            <a:avLst/>
          </a:prstGeom>
          <a:noFill/>
        </p:spPr>
        <p:txBody>
          <a:bodyPr wrap="none">
            <a:spAutoFit/>
          </a:bodyPr>
          <a:lstStyle/>
          <a:p>
            <a:r>
              <a:rPr sz="850" b="0">
                <a:solidFill>
                  <a:srgbClr val="6B6A64"/>
                </a:solidFill>
                <a:latin typeface="Menlo"/>
              </a:rPr>
              <a:t>04 · SOLUTION ARCHITECTURE</a:t>
            </a:r>
          </a:p>
        </p:txBody>
      </p:sp>
      <p:sp>
        <p:nvSpPr>
          <p:cNvPr id="3" name="TextBox 2"/>
          <p:cNvSpPr txBox="1"/>
          <p:nvPr/>
        </p:nvSpPr>
        <p:spPr>
          <a:xfrm>
            <a:off x="502920" y="640080"/>
            <a:ext cx="10789920" cy="777240"/>
          </a:xfrm>
          <a:prstGeom prst="rect">
            <a:avLst/>
          </a:prstGeom>
          <a:noFill/>
        </p:spPr>
        <p:txBody>
          <a:bodyPr wrap="none">
            <a:spAutoFit/>
          </a:bodyPr>
          <a:lstStyle/>
          <a:p>
            <a:r>
              <a:rPr sz="2700" b="0">
                <a:solidFill>
                  <a:srgbClr val="141413"/>
                </a:solidFill>
                <a:latin typeface="Georgia"/>
              </a:rPr>
              <a:t>Solution architecture</a:t>
            </a:r>
          </a:p>
        </p:txBody>
      </p:sp>
      <p:sp>
        <p:nvSpPr>
          <p:cNvPr id="4" name="TextBox 3"/>
          <p:cNvSpPr txBox="1"/>
          <p:nvPr/>
        </p:nvSpPr>
        <p:spPr>
          <a:xfrm>
            <a:off x="658368" y="1874519"/>
            <a:ext cx="658368" cy="365760"/>
          </a:xfrm>
          <a:prstGeom prst="rect">
            <a:avLst/>
          </a:prstGeom>
          <a:noFill/>
        </p:spPr>
        <p:txBody>
          <a:bodyPr wrap="none">
            <a:spAutoFit/>
          </a:bodyPr>
          <a:lstStyle/>
          <a:p>
            <a:r>
              <a:rPr sz="1900" b="0">
                <a:solidFill>
                  <a:srgbClr val="1B365D"/>
                </a:solidFill>
                <a:latin typeface="Georgia"/>
              </a:rPr>
              <a:t>01</a:t>
            </a:r>
          </a:p>
        </p:txBody>
      </p:sp>
      <p:sp>
        <p:nvSpPr>
          <p:cNvPr id="5" name="TextBox 4"/>
          <p:cNvSpPr txBox="1"/>
          <p:nvPr/>
        </p:nvSpPr>
        <p:spPr>
          <a:xfrm>
            <a:off x="658368" y="2423160"/>
            <a:ext cx="1874519" cy="256032"/>
          </a:xfrm>
          <a:prstGeom prst="rect">
            <a:avLst/>
          </a:prstGeom>
          <a:noFill/>
        </p:spPr>
        <p:txBody>
          <a:bodyPr wrap="none">
            <a:spAutoFit/>
          </a:bodyPr>
          <a:lstStyle/>
          <a:p>
            <a:r>
              <a:rPr sz="1400" b="0">
                <a:solidFill>
                  <a:srgbClr val="141413"/>
                </a:solidFill>
                <a:latin typeface="Georgia"/>
              </a:rPr>
              <a:t>Evidence</a:t>
            </a:r>
          </a:p>
        </p:txBody>
      </p:sp>
      <p:sp>
        <p:nvSpPr>
          <p:cNvPr id="6" name="TextBox 5"/>
          <p:cNvSpPr txBox="1"/>
          <p:nvPr/>
        </p:nvSpPr>
        <p:spPr>
          <a:xfrm>
            <a:off x="658368" y="2798064"/>
            <a:ext cx="1783080" cy="822960"/>
          </a:xfrm>
          <a:prstGeom prst="rect">
            <a:avLst/>
          </a:prstGeom>
          <a:noFill/>
        </p:spPr>
        <p:txBody>
          <a:bodyPr wrap="none">
            <a:spAutoFit/>
          </a:bodyPr>
          <a:lstStyle/>
          <a:p>
            <a:r>
              <a:rPr sz="1080" b="0">
                <a:solidFill>
                  <a:srgbClr val="3D3D3A"/>
                </a:solidFill>
                <a:latin typeface="Georgia"/>
              </a:rPr>
              <a:t>CRM, billing, telemetry, inventory, dispatch, notes</a:t>
            </a:r>
          </a:p>
        </p:txBody>
      </p:sp>
      <p:sp>
        <p:nvSpPr>
          <p:cNvPr id="7" name="TextBox 6"/>
          <p:cNvSpPr txBox="1"/>
          <p:nvPr/>
        </p:nvSpPr>
        <p:spPr>
          <a:xfrm>
            <a:off x="2414015" y="2542032"/>
            <a:ext cx="274320" cy="228600"/>
          </a:xfrm>
          <a:prstGeom prst="rect">
            <a:avLst/>
          </a:prstGeom>
          <a:noFill/>
        </p:spPr>
        <p:txBody>
          <a:bodyPr wrap="none">
            <a:spAutoFit/>
          </a:bodyPr>
          <a:lstStyle/>
          <a:p>
            <a:r>
              <a:rPr sz="1700" b="0">
                <a:solidFill>
                  <a:srgbClr val="6B6A64"/>
                </a:solidFill>
                <a:latin typeface="Georgia"/>
              </a:rPr>
              <a:t>→</a:t>
            </a:r>
          </a:p>
        </p:txBody>
      </p:sp>
      <p:sp>
        <p:nvSpPr>
          <p:cNvPr id="8" name="TextBox 7"/>
          <p:cNvSpPr txBox="1"/>
          <p:nvPr/>
        </p:nvSpPr>
        <p:spPr>
          <a:xfrm>
            <a:off x="2898648" y="1874519"/>
            <a:ext cx="658368" cy="365760"/>
          </a:xfrm>
          <a:prstGeom prst="rect">
            <a:avLst/>
          </a:prstGeom>
          <a:noFill/>
        </p:spPr>
        <p:txBody>
          <a:bodyPr wrap="none">
            <a:spAutoFit/>
          </a:bodyPr>
          <a:lstStyle/>
          <a:p>
            <a:r>
              <a:rPr sz="1900" b="0">
                <a:solidFill>
                  <a:srgbClr val="1B365D"/>
                </a:solidFill>
                <a:latin typeface="Georgia"/>
              </a:rPr>
              <a:t>02</a:t>
            </a:r>
          </a:p>
        </p:txBody>
      </p:sp>
      <p:sp>
        <p:nvSpPr>
          <p:cNvPr id="9" name="TextBox 8"/>
          <p:cNvSpPr txBox="1"/>
          <p:nvPr/>
        </p:nvSpPr>
        <p:spPr>
          <a:xfrm>
            <a:off x="2898648" y="2423160"/>
            <a:ext cx="1874519" cy="256032"/>
          </a:xfrm>
          <a:prstGeom prst="rect">
            <a:avLst/>
          </a:prstGeom>
          <a:noFill/>
        </p:spPr>
        <p:txBody>
          <a:bodyPr wrap="none">
            <a:spAutoFit/>
          </a:bodyPr>
          <a:lstStyle/>
          <a:p>
            <a:r>
              <a:rPr sz="1400" b="0">
                <a:solidFill>
                  <a:srgbClr val="141413"/>
                </a:solidFill>
                <a:latin typeface="Georgia"/>
              </a:rPr>
              <a:t>Agent</a:t>
            </a:r>
          </a:p>
        </p:txBody>
      </p:sp>
      <p:sp>
        <p:nvSpPr>
          <p:cNvPr id="10" name="TextBox 9"/>
          <p:cNvSpPr txBox="1"/>
          <p:nvPr/>
        </p:nvSpPr>
        <p:spPr>
          <a:xfrm>
            <a:off x="2898648" y="2798064"/>
            <a:ext cx="1783080" cy="822960"/>
          </a:xfrm>
          <a:prstGeom prst="rect">
            <a:avLst/>
          </a:prstGeom>
          <a:noFill/>
        </p:spPr>
        <p:txBody>
          <a:bodyPr wrap="none">
            <a:spAutoFit/>
          </a:bodyPr>
          <a:lstStyle/>
          <a:p>
            <a:r>
              <a:rPr sz="1080" b="0">
                <a:solidFill>
                  <a:srgbClr val="3D3D3A"/>
                </a:solidFill>
                <a:latin typeface="Georgia"/>
              </a:rPr>
              <a:t>Structured interpretation of ambiguous text</a:t>
            </a:r>
          </a:p>
        </p:txBody>
      </p:sp>
      <p:sp>
        <p:nvSpPr>
          <p:cNvPr id="11" name="TextBox 10"/>
          <p:cNvSpPr txBox="1"/>
          <p:nvPr/>
        </p:nvSpPr>
        <p:spPr>
          <a:xfrm>
            <a:off x="4654296" y="2542032"/>
            <a:ext cx="274320" cy="228600"/>
          </a:xfrm>
          <a:prstGeom prst="rect">
            <a:avLst/>
          </a:prstGeom>
          <a:noFill/>
        </p:spPr>
        <p:txBody>
          <a:bodyPr wrap="none">
            <a:spAutoFit/>
          </a:bodyPr>
          <a:lstStyle/>
          <a:p>
            <a:r>
              <a:rPr sz="1700" b="0">
                <a:solidFill>
                  <a:srgbClr val="6B6A64"/>
                </a:solidFill>
                <a:latin typeface="Georgia"/>
              </a:rPr>
              <a:t>→</a:t>
            </a:r>
          </a:p>
        </p:txBody>
      </p:sp>
      <p:sp>
        <p:nvSpPr>
          <p:cNvPr id="12" name="TextBox 11"/>
          <p:cNvSpPr txBox="1"/>
          <p:nvPr/>
        </p:nvSpPr>
        <p:spPr>
          <a:xfrm>
            <a:off x="5138928" y="1874519"/>
            <a:ext cx="658368" cy="365760"/>
          </a:xfrm>
          <a:prstGeom prst="rect">
            <a:avLst/>
          </a:prstGeom>
          <a:noFill/>
        </p:spPr>
        <p:txBody>
          <a:bodyPr wrap="none">
            <a:spAutoFit/>
          </a:bodyPr>
          <a:lstStyle/>
          <a:p>
            <a:r>
              <a:rPr sz="1900" b="0">
                <a:solidFill>
                  <a:srgbClr val="1B365D"/>
                </a:solidFill>
                <a:latin typeface="Georgia"/>
              </a:rPr>
              <a:t>03</a:t>
            </a:r>
          </a:p>
        </p:txBody>
      </p:sp>
      <p:sp>
        <p:nvSpPr>
          <p:cNvPr id="13" name="TextBox 12"/>
          <p:cNvSpPr txBox="1"/>
          <p:nvPr/>
        </p:nvSpPr>
        <p:spPr>
          <a:xfrm>
            <a:off x="5138928" y="2423160"/>
            <a:ext cx="1874519" cy="256032"/>
          </a:xfrm>
          <a:prstGeom prst="rect">
            <a:avLst/>
          </a:prstGeom>
          <a:noFill/>
        </p:spPr>
        <p:txBody>
          <a:bodyPr wrap="none">
            <a:spAutoFit/>
          </a:bodyPr>
          <a:lstStyle/>
          <a:p>
            <a:r>
              <a:rPr sz="1400" b="0">
                <a:solidFill>
                  <a:srgbClr val="141413"/>
                </a:solidFill>
                <a:latin typeface="Georgia"/>
              </a:rPr>
              <a:t>Policy</a:t>
            </a:r>
          </a:p>
        </p:txBody>
      </p:sp>
      <p:sp>
        <p:nvSpPr>
          <p:cNvPr id="14" name="TextBox 13"/>
          <p:cNvSpPr txBox="1"/>
          <p:nvPr/>
        </p:nvSpPr>
        <p:spPr>
          <a:xfrm>
            <a:off x="5138928" y="2798064"/>
            <a:ext cx="1783080" cy="822960"/>
          </a:xfrm>
          <a:prstGeom prst="rect">
            <a:avLst/>
          </a:prstGeom>
          <a:noFill/>
        </p:spPr>
        <p:txBody>
          <a:bodyPr wrap="none">
            <a:spAutoFit/>
          </a:bodyPr>
          <a:lstStyle/>
          <a:p>
            <a:r>
              <a:rPr sz="1080" b="0">
                <a:solidFill>
                  <a:srgbClr val="3D3D3A"/>
                </a:solidFill>
                <a:latin typeface="Georgia"/>
              </a:rPr>
              <a:t>Closure guard and allowed route</a:t>
            </a:r>
          </a:p>
        </p:txBody>
      </p:sp>
      <p:sp>
        <p:nvSpPr>
          <p:cNvPr id="15" name="TextBox 14"/>
          <p:cNvSpPr txBox="1"/>
          <p:nvPr/>
        </p:nvSpPr>
        <p:spPr>
          <a:xfrm>
            <a:off x="6894576" y="2542032"/>
            <a:ext cx="274320" cy="228600"/>
          </a:xfrm>
          <a:prstGeom prst="rect">
            <a:avLst/>
          </a:prstGeom>
          <a:noFill/>
        </p:spPr>
        <p:txBody>
          <a:bodyPr wrap="none">
            <a:spAutoFit/>
          </a:bodyPr>
          <a:lstStyle/>
          <a:p>
            <a:r>
              <a:rPr sz="1700" b="0">
                <a:solidFill>
                  <a:srgbClr val="6B6A64"/>
                </a:solidFill>
                <a:latin typeface="Georgia"/>
              </a:rPr>
              <a:t>→</a:t>
            </a:r>
          </a:p>
        </p:txBody>
      </p:sp>
      <p:sp>
        <p:nvSpPr>
          <p:cNvPr id="16" name="TextBox 15"/>
          <p:cNvSpPr txBox="1"/>
          <p:nvPr/>
        </p:nvSpPr>
        <p:spPr>
          <a:xfrm>
            <a:off x="7379208" y="1874519"/>
            <a:ext cx="658368" cy="365760"/>
          </a:xfrm>
          <a:prstGeom prst="rect">
            <a:avLst/>
          </a:prstGeom>
          <a:noFill/>
        </p:spPr>
        <p:txBody>
          <a:bodyPr wrap="none">
            <a:spAutoFit/>
          </a:bodyPr>
          <a:lstStyle/>
          <a:p>
            <a:r>
              <a:rPr sz="1900" b="0">
                <a:solidFill>
                  <a:srgbClr val="1B365D"/>
                </a:solidFill>
                <a:latin typeface="Georgia"/>
              </a:rPr>
              <a:t>04</a:t>
            </a:r>
          </a:p>
        </p:txBody>
      </p:sp>
      <p:sp>
        <p:nvSpPr>
          <p:cNvPr id="17" name="TextBox 16"/>
          <p:cNvSpPr txBox="1"/>
          <p:nvPr/>
        </p:nvSpPr>
        <p:spPr>
          <a:xfrm>
            <a:off x="7379208" y="2423160"/>
            <a:ext cx="1874519" cy="256032"/>
          </a:xfrm>
          <a:prstGeom prst="rect">
            <a:avLst/>
          </a:prstGeom>
          <a:noFill/>
        </p:spPr>
        <p:txBody>
          <a:bodyPr wrap="none">
            <a:spAutoFit/>
          </a:bodyPr>
          <a:lstStyle/>
          <a:p>
            <a:r>
              <a:rPr sz="1400" b="0">
                <a:solidFill>
                  <a:srgbClr val="141413"/>
                </a:solidFill>
                <a:latin typeface="Georgia"/>
              </a:rPr>
              <a:t>Maestro Case</a:t>
            </a:r>
          </a:p>
        </p:txBody>
      </p:sp>
      <p:sp>
        <p:nvSpPr>
          <p:cNvPr id="18" name="TextBox 17"/>
          <p:cNvSpPr txBox="1"/>
          <p:nvPr/>
        </p:nvSpPr>
        <p:spPr>
          <a:xfrm>
            <a:off x="7379208" y="2798064"/>
            <a:ext cx="1783080" cy="822960"/>
          </a:xfrm>
          <a:prstGeom prst="rect">
            <a:avLst/>
          </a:prstGeom>
          <a:noFill/>
        </p:spPr>
        <p:txBody>
          <a:bodyPr wrap="none">
            <a:spAutoFit/>
          </a:bodyPr>
          <a:lstStyle/>
          <a:p>
            <a:r>
              <a:rPr sz="1080" b="0">
                <a:solidFill>
                  <a:srgbClr val="3D3D3A"/>
                </a:solidFill>
                <a:latin typeface="Georgia"/>
              </a:rPr>
              <a:t>Dynamic stage routing and lifecycle</a:t>
            </a:r>
          </a:p>
        </p:txBody>
      </p:sp>
      <p:sp>
        <p:nvSpPr>
          <p:cNvPr id="19" name="TextBox 18"/>
          <p:cNvSpPr txBox="1"/>
          <p:nvPr/>
        </p:nvSpPr>
        <p:spPr>
          <a:xfrm>
            <a:off x="9134856" y="2542032"/>
            <a:ext cx="274320" cy="228600"/>
          </a:xfrm>
          <a:prstGeom prst="rect">
            <a:avLst/>
          </a:prstGeom>
          <a:noFill/>
        </p:spPr>
        <p:txBody>
          <a:bodyPr wrap="none">
            <a:spAutoFit/>
          </a:bodyPr>
          <a:lstStyle/>
          <a:p>
            <a:r>
              <a:rPr sz="1700" b="0">
                <a:solidFill>
                  <a:srgbClr val="6B6A64"/>
                </a:solidFill>
                <a:latin typeface="Georgia"/>
              </a:rPr>
              <a:t>→</a:t>
            </a:r>
          </a:p>
        </p:txBody>
      </p:sp>
      <p:sp>
        <p:nvSpPr>
          <p:cNvPr id="20" name="TextBox 19"/>
          <p:cNvSpPr txBox="1"/>
          <p:nvPr/>
        </p:nvSpPr>
        <p:spPr>
          <a:xfrm>
            <a:off x="9619488" y="1874519"/>
            <a:ext cx="658368" cy="365760"/>
          </a:xfrm>
          <a:prstGeom prst="rect">
            <a:avLst/>
          </a:prstGeom>
          <a:noFill/>
        </p:spPr>
        <p:txBody>
          <a:bodyPr wrap="none">
            <a:spAutoFit/>
          </a:bodyPr>
          <a:lstStyle/>
          <a:p>
            <a:r>
              <a:rPr sz="1900" b="0">
                <a:solidFill>
                  <a:srgbClr val="1B365D"/>
                </a:solidFill>
                <a:latin typeface="Georgia"/>
              </a:rPr>
              <a:t>05</a:t>
            </a:r>
          </a:p>
        </p:txBody>
      </p:sp>
      <p:sp>
        <p:nvSpPr>
          <p:cNvPr id="21" name="TextBox 20"/>
          <p:cNvSpPr txBox="1"/>
          <p:nvPr/>
        </p:nvSpPr>
        <p:spPr>
          <a:xfrm>
            <a:off x="9619488" y="2423160"/>
            <a:ext cx="1874519" cy="256032"/>
          </a:xfrm>
          <a:prstGeom prst="rect">
            <a:avLst/>
          </a:prstGeom>
          <a:noFill/>
        </p:spPr>
        <p:txBody>
          <a:bodyPr wrap="none">
            <a:spAutoFit/>
          </a:bodyPr>
          <a:lstStyle/>
          <a:p>
            <a:r>
              <a:rPr sz="1400" b="0">
                <a:solidFill>
                  <a:srgbClr val="141413"/>
                </a:solidFill>
                <a:latin typeface="Georgia"/>
              </a:rPr>
              <a:t>Human review</a:t>
            </a:r>
          </a:p>
        </p:txBody>
      </p:sp>
      <p:sp>
        <p:nvSpPr>
          <p:cNvPr id="22" name="TextBox 21"/>
          <p:cNvSpPr txBox="1"/>
          <p:nvPr/>
        </p:nvSpPr>
        <p:spPr>
          <a:xfrm>
            <a:off x="9619488" y="2798064"/>
            <a:ext cx="1783080" cy="822960"/>
          </a:xfrm>
          <a:prstGeom prst="rect">
            <a:avLst/>
          </a:prstGeom>
          <a:noFill/>
        </p:spPr>
        <p:txBody>
          <a:bodyPr wrap="none">
            <a:spAutoFit/>
          </a:bodyPr>
          <a:lstStyle/>
          <a:p>
            <a:r>
              <a:rPr sz="1080" b="0">
                <a:solidFill>
                  <a:srgbClr val="3D3D3A"/>
                </a:solidFill>
                <a:latin typeface="Georgia"/>
              </a:rPr>
              <a:t>High-impact exception ownership</a:t>
            </a:r>
          </a:p>
        </p:txBody>
      </p:sp>
      <p:sp>
        <p:nvSpPr>
          <p:cNvPr id="23" name="TextBox 22"/>
          <p:cNvSpPr txBox="1"/>
          <p:nvPr/>
        </p:nvSpPr>
        <p:spPr>
          <a:xfrm>
            <a:off x="566928" y="5815584"/>
            <a:ext cx="10607040" cy="438912"/>
          </a:xfrm>
          <a:prstGeom prst="rect">
            <a:avLst/>
          </a:prstGeom>
          <a:noFill/>
        </p:spPr>
        <p:txBody>
          <a:bodyPr wrap="none">
            <a:spAutoFit/>
          </a:bodyPr>
          <a:lstStyle/>
          <a:p>
            <a:r>
              <a:rPr sz="1320" b="0">
                <a:solidFill>
                  <a:srgbClr val="1B365D"/>
                </a:solidFill>
                <a:latin typeface="Georgia"/>
              </a:rPr>
              <a:t>Track 1 fit: unpredictable evidence-driven routes, human-in-the-loop decisions, exception handling, visibility, and auditability.</a:t>
            </a:r>
          </a:p>
        </p:txBody>
      </p:sp>
      <p:sp>
        <p:nvSpPr>
          <p:cNvPr id="24" name="TextBox 23"/>
          <p:cNvSpPr txBox="1"/>
          <p:nvPr/>
        </p:nvSpPr>
        <p:spPr>
          <a:xfrm>
            <a:off x="502920" y="6446520"/>
            <a:ext cx="2926080" cy="164592"/>
          </a:xfrm>
          <a:prstGeom prst="rect">
            <a:avLst/>
          </a:prstGeom>
          <a:noFill/>
        </p:spPr>
        <p:txBody>
          <a:bodyPr wrap="none">
            <a:spAutoFit/>
          </a:bodyPr>
          <a:lstStyle/>
          <a:p>
            <a:r>
              <a:rPr sz="800" b="0">
                <a:solidFill>
                  <a:srgbClr val="6B6A64"/>
                </a:solidFill>
                <a:latin typeface="Menlo"/>
              </a:rPr>
              <a:t>SERVICE RECOVERY</a:t>
            </a:r>
          </a:p>
        </p:txBody>
      </p:sp>
      <p:sp>
        <p:nvSpPr>
          <p:cNvPr id="25" name="TextBox 24"/>
          <p:cNvSpPr txBox="1"/>
          <p:nvPr/>
        </p:nvSpPr>
        <p:spPr>
          <a:xfrm>
            <a:off x="11018520" y="6446520"/>
            <a:ext cx="502920" cy="164592"/>
          </a:xfrm>
          <a:prstGeom prst="rect">
            <a:avLst/>
          </a:prstGeom>
          <a:noFill/>
        </p:spPr>
        <p:txBody>
          <a:bodyPr wrap="none">
            <a:spAutoFit/>
          </a:bodyPr>
          <a:lstStyle/>
          <a:p>
            <a:pPr algn="r"/>
            <a:r>
              <a:rPr sz="800" b="0">
                <a:solidFill>
                  <a:srgbClr val="6B6A64"/>
                </a:solidFill>
                <a:latin typeface="Menl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502920" y="347472"/>
            <a:ext cx="10789920" cy="228600"/>
          </a:xfrm>
          <a:prstGeom prst="rect">
            <a:avLst/>
          </a:prstGeom>
          <a:noFill/>
        </p:spPr>
        <p:txBody>
          <a:bodyPr wrap="none">
            <a:spAutoFit/>
          </a:bodyPr>
          <a:lstStyle/>
          <a:p>
            <a:r>
              <a:rPr sz="850" b="0">
                <a:solidFill>
                  <a:srgbClr val="6B6A64"/>
                </a:solidFill>
                <a:latin typeface="Menlo"/>
              </a:rPr>
              <a:t>05 · DEMO PROOF</a:t>
            </a:r>
          </a:p>
        </p:txBody>
      </p:sp>
      <p:sp>
        <p:nvSpPr>
          <p:cNvPr id="3" name="TextBox 2"/>
          <p:cNvSpPr txBox="1"/>
          <p:nvPr/>
        </p:nvSpPr>
        <p:spPr>
          <a:xfrm>
            <a:off x="502920" y="640080"/>
            <a:ext cx="10789920" cy="777240"/>
          </a:xfrm>
          <a:prstGeom prst="rect">
            <a:avLst/>
          </a:prstGeom>
          <a:noFill/>
        </p:spPr>
        <p:txBody>
          <a:bodyPr wrap="none">
            <a:spAutoFit/>
          </a:bodyPr>
          <a:lstStyle/>
          <a:p>
            <a:r>
              <a:rPr sz="2700" b="0">
                <a:solidFill>
                  <a:srgbClr val="141413"/>
                </a:solidFill>
                <a:latin typeface="Georgia"/>
              </a:rPr>
              <a:t>Running proof and repository</a:t>
            </a:r>
          </a:p>
        </p:txBody>
      </p:sp>
      <p:pic>
        <p:nvPicPr>
          <p:cNvPr id="4" name="Picture 3" descr="evidence_packet_E004_desktop.png"/>
          <p:cNvPicPr>
            <a:picLocks noChangeAspect="1"/>
          </p:cNvPicPr>
          <p:nvPr/>
        </p:nvPicPr>
        <p:blipFill>
          <a:blip r:embed="rId2"/>
          <a:stretch>
            <a:fillRect/>
          </a:stretch>
        </p:blipFill>
        <p:spPr>
          <a:xfrm>
            <a:off x="713232" y="1508760"/>
            <a:ext cx="6126480" cy="3829050"/>
          </a:xfrm>
          <a:prstGeom prst="rect">
            <a:avLst/>
          </a:prstGeom>
        </p:spPr>
      </p:pic>
      <p:sp>
        <p:nvSpPr>
          <p:cNvPr id="5" name="TextBox 4"/>
          <p:cNvSpPr txBox="1"/>
          <p:nvPr/>
        </p:nvSpPr>
        <p:spPr>
          <a:xfrm>
            <a:off x="7223760" y="1664208"/>
            <a:ext cx="4114800" cy="685800"/>
          </a:xfrm>
          <a:prstGeom prst="rect">
            <a:avLst/>
          </a:prstGeom>
          <a:noFill/>
        </p:spPr>
        <p:txBody>
          <a:bodyPr wrap="none">
            <a:spAutoFit/>
          </a:bodyPr>
          <a:lstStyle/>
          <a:p>
            <a:r>
              <a:rPr sz="1500" b="0">
                <a:solidFill>
                  <a:srgbClr val="1B365D"/>
                </a:solidFill>
                <a:latin typeface="Georgia"/>
              </a:rPr>
              <a:t>Core proof: same green business systems, different authoritative evidence, different route.</a:t>
            </a:r>
          </a:p>
        </p:txBody>
      </p:sp>
      <p:sp>
        <p:nvSpPr>
          <p:cNvPr id="6" name="TextBox 5"/>
          <p:cNvSpPr txBox="1"/>
          <p:nvPr/>
        </p:nvSpPr>
        <p:spPr>
          <a:xfrm>
            <a:off x="7333488" y="2743200"/>
            <a:ext cx="3749039" cy="1234440"/>
          </a:xfrm>
          <a:prstGeom prst="rect">
            <a:avLst/>
          </a:prstGeom>
          <a:noFill/>
        </p:spPr>
        <p:txBody>
          <a:bodyPr wrap="none">
            <a:spAutoFit/>
          </a:bodyPr>
          <a:lstStyle/>
          <a:p>
            <a:r>
              <a:rPr sz="1250" b="0">
                <a:solidFill>
                  <a:srgbClr val="3D3D3A"/>
                </a:solidFill>
                <a:latin typeface="Georgia"/>
              </a:rPr>
              <a:t>Missing/stale evidence routes to telemetry verification. Fresh contradiction routes to human review. The raw agent recommendation, final policy decision, reviewer packet, and audit chain are visible.</a:t>
            </a:r>
          </a:p>
        </p:txBody>
      </p:sp>
      <p:sp>
        <p:nvSpPr>
          <p:cNvPr id="7" name="TextBox 6"/>
          <p:cNvSpPr txBox="1"/>
          <p:nvPr/>
        </p:nvSpPr>
        <p:spPr>
          <a:xfrm>
            <a:off x="7333488" y="4617720"/>
            <a:ext cx="3657600" cy="320040"/>
          </a:xfrm>
          <a:prstGeom prst="rect">
            <a:avLst/>
          </a:prstGeom>
          <a:noFill/>
        </p:spPr>
        <p:txBody>
          <a:bodyPr wrap="none">
            <a:spAutoFit/>
          </a:bodyPr>
          <a:lstStyle/>
          <a:p>
            <a:r>
              <a:rPr sz="1050" b="0">
                <a:solidFill>
                  <a:srgbClr val="6B6A64"/>
                </a:solidFill>
                <a:latin typeface="Menlo"/>
              </a:rPr>
              <a:t>GitHub: github.com/Arshgill01/uipath-agenthack-service-recovery</a:t>
            </a:r>
          </a:p>
        </p:txBody>
      </p:sp>
      <p:sp>
        <p:nvSpPr>
          <p:cNvPr id="8" name="TextBox 7"/>
          <p:cNvSpPr txBox="1"/>
          <p:nvPr/>
        </p:nvSpPr>
        <p:spPr>
          <a:xfrm>
            <a:off x="502920" y="6446520"/>
            <a:ext cx="2926080" cy="164592"/>
          </a:xfrm>
          <a:prstGeom prst="rect">
            <a:avLst/>
          </a:prstGeom>
          <a:noFill/>
        </p:spPr>
        <p:txBody>
          <a:bodyPr wrap="none">
            <a:spAutoFit/>
          </a:bodyPr>
          <a:lstStyle/>
          <a:p>
            <a:r>
              <a:rPr sz="800" b="0">
                <a:solidFill>
                  <a:srgbClr val="6B6A64"/>
                </a:solidFill>
                <a:latin typeface="Menlo"/>
              </a:rPr>
              <a:t>SERVICE RECOVERY</a:t>
            </a:r>
          </a:p>
        </p:txBody>
      </p:sp>
      <p:sp>
        <p:nvSpPr>
          <p:cNvPr id="9" name="TextBox 8"/>
          <p:cNvSpPr txBox="1"/>
          <p:nvPr/>
        </p:nvSpPr>
        <p:spPr>
          <a:xfrm>
            <a:off x="11018520" y="6446520"/>
            <a:ext cx="502920" cy="164592"/>
          </a:xfrm>
          <a:prstGeom prst="rect">
            <a:avLst/>
          </a:prstGeom>
          <a:noFill/>
        </p:spPr>
        <p:txBody>
          <a:bodyPr wrap="none">
            <a:spAutoFit/>
          </a:bodyPr>
          <a:lstStyle/>
          <a:p>
            <a:pPr algn="r"/>
            <a:r>
              <a:rPr sz="800" b="0">
                <a:solidFill>
                  <a:srgbClr val="6B6A64"/>
                </a:solidFill>
                <a:latin typeface="Menlo"/>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ClearPath Recovery - Official Template Version</dc:title>
  <dc:subject>UiPath AgentHack submission deck</dc:subject>
  <dc:creator>Arshdeep Singh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