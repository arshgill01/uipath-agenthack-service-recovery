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65960"/>
            <a:ext cx="99669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300" b="0">
                <a:solidFill>
                  <a:srgbClr val="141413"/>
                </a:solidFill>
                <a:latin typeface="Georgia"/>
              </a:rPr>
              <a:t>ClearPath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8892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504E49"/>
                </a:solidFill>
                <a:latin typeface="Georgia"/>
              </a:rPr>
              <a:t>No service case closes until authoritative evidence proves the customer is actually restored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822191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6B6A64"/>
                </a:solidFill>
                <a:latin typeface="Menlo"/>
              </a:rPr>
              <a:t>UiPath AgentHack 2026 · Maestro Case · Governed Telecom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3493008"/>
            <a:ext cx="4572000" cy="27432"/>
          </a:xfrm>
          <a:prstGeom prst="rect">
            <a:avLst/>
          </a:prstGeom>
          <a:solidFill>
            <a:srgbClr val="1B3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01 ·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The riskiest case is the one that looks resolved everywhere except the customer’s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08176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504E49"/>
                </a:solidFill>
                <a:latin typeface="Georgia"/>
              </a:rPr>
              <a:t>CRM, orders, billing, and support notes can all look green while authoritative service evidence is missing, stale, or contradictory.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21408"/>
            <a:ext cx="3291840" cy="196596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24942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Wrongful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15184"/>
            <a:ext cx="2962656" cy="1399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The customer still has no service, but the case is marked resolved.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21408"/>
            <a:ext cx="3291840" cy="196596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224942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Repeat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615184"/>
            <a:ext cx="2962656" cy="1399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The next call reopens the same work with worse SLA pressure.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121408"/>
            <a:ext cx="3291840" cy="196596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224942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Audit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615184"/>
            <a:ext cx="2962656" cy="1399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Reviewers cannot reconstruct why the case was closed.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The project is not a generic governance platform. It is a concrete telecom exception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02 · ARCHITECTURE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Agents interpret. Policy decides. Maestro routes. Humans own exceptions.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01952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365D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59152"/>
            <a:ext cx="187451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141413"/>
                </a:solidFill>
                <a:latin typeface="Georgia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889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>
                <a:solidFill>
                  <a:srgbClr val="3D3D3A"/>
                </a:solidFill>
                <a:latin typeface="Georgia"/>
              </a:rPr>
              <a:t>CRM, billing, telemetry, inventory, dispatch,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4016" y="245059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B6A64"/>
                </a:solidFill>
                <a:latin typeface="Georgia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01952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365D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59152"/>
            <a:ext cx="187451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141413"/>
                </a:solidFill>
                <a:latin typeface="Georgia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>
                <a:solidFill>
                  <a:srgbClr val="3D3D3A"/>
                </a:solidFill>
                <a:latin typeface="Georgia"/>
              </a:rPr>
              <a:t>Turns ambiguous text into structured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5059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B6A64"/>
                </a:solidFill>
                <a:latin typeface="Georgia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1901952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365D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359152"/>
            <a:ext cx="187451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141413"/>
                </a:solidFill>
                <a:latin typeface="Georgia"/>
              </a:rP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7889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>
                <a:solidFill>
                  <a:srgbClr val="3D3D3A"/>
                </a:solidFill>
                <a:latin typeface="Georgia"/>
              </a:rPr>
              <a:t>Blocks unsafe closure and chooses the allowed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5059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B6A64"/>
                </a:solidFill>
                <a:latin typeface="Georgia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3" y="1901952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365D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3" y="2359152"/>
            <a:ext cx="187451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141413"/>
                </a:solidFill>
                <a:latin typeface="Georgia"/>
              </a:rPr>
              <a:t>Maestro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3" y="27889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>
                <a:solidFill>
                  <a:srgbClr val="3D3D3A"/>
                </a:solidFill>
                <a:latin typeface="Georgia"/>
              </a:rPr>
              <a:t>Carries stages, tasks, incidents, and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245059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B6A64"/>
                </a:solidFill>
                <a:latin typeface="Georgia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1901952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365D"/>
                </a:solidFill>
                <a:latin typeface="Georg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7776" y="2359152"/>
            <a:ext cx="187451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141413"/>
                </a:solidFill>
                <a:latin typeface="Georgia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27889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>
                <a:solidFill>
                  <a:srgbClr val="3D3D3A"/>
                </a:solidFill>
                <a:latin typeface="Georgia"/>
              </a:rPr>
              <a:t>Owns high-impact contradictions and remediation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The LLM never closes cases, overrides policy, or mutates production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03 · WHY MAESTRO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This is Case work because the route emerges as evidence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08176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504E49"/>
                </a:solidFill>
                <a:latin typeface="Georgia"/>
              </a:rPr>
              <a:t>The workflow is not a fixed BPMN-style happy path. It is long-running exception handling with changing evidence, SLA pressure, human accountability, and audit requirements.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21408"/>
            <a:ext cx="3291840" cy="196596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24942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Unpredictable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15184"/>
            <a:ext cx="2962656" cy="1399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Missing telemetry, stale signals, contradiction, and human review are decided after evidence arrives.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21408"/>
            <a:ext cx="3291840" cy="196596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224942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Human-owned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615184"/>
            <a:ext cx="2962656" cy="1399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High-impact contradictions become reviewer tasks with structured return, not silent automation.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121408"/>
            <a:ext cx="3291840" cy="196596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2249424"/>
            <a:ext cx="2962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Durable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615184"/>
            <a:ext cx="2962656" cy="1399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The case must preserve raw agent recommendation, final policy route, reviewer action, and policy versions.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ClearPath Recovery fits Track 1: dynamic exception-heavy casework with agents, automation, and humans in charge at key decision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04 · UIPATH PLATFORM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UiPath is the orchestration and governance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Maestro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700784"/>
            <a:ext cx="81838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Dynamic exception-heavy case lifecycle, stage routing, incidents, recovery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1343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Action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313432"/>
            <a:ext cx="81838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Human task lifecycle, assignment, completion, reviewer action/comment.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26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Data Fabric /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926080"/>
            <a:ext cx="81838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Durable audit bundle, package/process/version readback, full payload proof.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3872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Test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538728"/>
            <a:ext cx="81838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Manual execution evidence for E-001 through E-009 eval coverage.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5137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UiPath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151376"/>
            <a:ext cx="81838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Repeatable package, task, Data Fabric, Test Manager, and validation readback.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Custom evidence packets make the proof readable; they do not replace UiPath orchestration.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05 · SCENARIO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Same green business systems. Missing signal means verify, not close.</a:t>
            </a:r>
          </a:p>
        </p:txBody>
      </p:sp>
      <p:pic>
        <p:nvPicPr>
          <p:cNvPr id="4" name="Picture 3" descr="evidence_packet_E002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766560" cy="422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54112" y="173736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04E49"/>
                </a:solidFill>
                <a:latin typeface="Georgia"/>
              </a:rPr>
              <a:t>The agent recommends closure. Policy preserves that recommendation, links it to the final decision, and routes the case to telemetry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5552" y="2788920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Business state stays green.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552" y="3291839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Closure is blocked by missing authoritative service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3794759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The SLA clock stays alive until telemetry is fresh.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06 · SCENARIO 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Same green business systems. Contradiction means human review.</a:t>
            </a:r>
          </a:p>
        </p:txBody>
      </p:sp>
      <p:pic>
        <p:nvPicPr>
          <p:cNvPr id="4" name="Picture 3" descr="evidence_packet_E004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766560" cy="422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54112" y="173736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04E49"/>
                </a:solidFill>
                <a:latin typeface="Georgia"/>
              </a:rPr>
              <a:t>The business fixture is intentionally the same. Fresh authoritative telemetry says the service is not live, so the route escalates.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5552" y="2788920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Only the authoritative evidence condition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552" y="3291839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Policy rejects closure and opens human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3794759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The reviewer sees the contradiction and closure guard.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07 · ONE VARIABLE, DIFFERENT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Missing evidence and contradicting evidence are different operational problems.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828800"/>
            <a:ext cx="5166360" cy="347472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95681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D6B57"/>
                </a:solidFill>
                <a:latin typeface="Georgia"/>
              </a:rPr>
              <a:t>Missing or stale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22576"/>
            <a:ext cx="4837176" cy="2907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Business systems are green
Authoritative telemetry is absent or too old
Allowed route: verify telemetry
Operational posture: controlled retry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166360" cy="347472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5681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2217"/>
                </a:solidFill>
                <a:latin typeface="Georgia"/>
              </a:rPr>
              <a:t>Contradicting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322576"/>
            <a:ext cx="4837176" cy="2907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Business systems are green
Fresh authoritative telemetry says not live
Allowed route: human review
Operational posture: exception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This is the central proof: same business-green fixture, different authoritative signal, different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08 · AGENT USEFULNESS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The LLM contributes structured interpretation, not final authority.</a:t>
            </a:r>
          </a:p>
        </p:txBody>
      </p:sp>
      <p:pic>
        <p:nvPicPr>
          <p:cNvPr id="4" name="Picture 3" descr="evidence_packet_E003_adversarial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766560" cy="422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54112" y="173736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04E49"/>
                </a:solidFill>
                <a:latin typeface="Georgia"/>
              </a:rPr>
              <a:t>An adversarial interpretation run turns closure pressure and unresolved risk into structured disagreement for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5552" y="2788920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Advocate and skeptic outputs validate against the same 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552" y="3291839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Disagreement is policy input, not prose parsing.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3794759"/>
            <a:ext cx="3493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3D3D3A"/>
                </a:solidFill>
                <a:latin typeface="Georgia"/>
              </a:rPr>
              <a:t>• Policy still owns closure eligibility.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09 · EVAL AND LEARNING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The eval suite keeps the agent useful without weakening closure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6420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1B365D"/>
                </a:solidFill>
                <a:latin typeface="Menlo"/>
              </a:rPr>
              <a:t>E-001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66420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3D3D3A"/>
                </a:solidFill>
                <a:latin typeface="Georgia"/>
              </a:rPr>
              <a:t>Aligned closure accepted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39696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1B365D"/>
                </a:solidFill>
                <a:latin typeface="Menlo"/>
              </a:rPr>
              <a:t>E-002/E-003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39696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3D3D3A"/>
                </a:solidFill>
                <a:latin typeface="Georgia"/>
              </a:rPr>
              <a:t>Missing or stale evidence blocks 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15184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1B365D"/>
                </a:solidFill>
                <a:latin typeface="Menlo"/>
              </a:rPr>
              <a:t>E-004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15184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3D3D3A"/>
                </a:solidFill>
                <a:latin typeface="Georgia"/>
              </a:rPr>
              <a:t>Source contradiction escalates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1B365D"/>
                </a:solidFill>
                <a:latin typeface="Menlo"/>
              </a:rPr>
              <a:t>E-005/E-006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090672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3D3D3A"/>
                </a:solidFill>
                <a:latin typeface="Georgia"/>
              </a:rPr>
              <a:t>Notes and pressure influence routing without overriding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6616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1B365D"/>
                </a:solidFill>
                <a:latin typeface="Menlo"/>
              </a:rPr>
              <a:t>E-007/E-009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661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3D3D3A"/>
                </a:solidFill>
                <a:latin typeface="Georgia"/>
              </a:rPr>
              <a:t>Invalid output and override persistence are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0416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40" b="0">
                <a:solidFill>
                  <a:srgbClr val="1B365D"/>
                </a:solidFill>
                <a:latin typeface="Menlo"/>
              </a:rPr>
              <a:t>E-008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04164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3D3D3A"/>
                </a:solidFill>
                <a:latin typeface="Georgia"/>
              </a:rPr>
              <a:t>Policy improvement remains pending human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Validated path: local tests plus Test Manager manual representation, not claimed automated Test Cloud execution.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10 · PRODUCT FEEDBACK AWARD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The strongest product ask is a Maestro Case Human-Review Readiness Check.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08176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504E49"/>
                </a:solidFill>
                <a:latin typeface="Georgia"/>
              </a:rPr>
              <a:t>The pieces exist across Maestro, Actions, packages, Data Fabric, and Test Manager. Builders need one preflight and auditability contract that proves the human-review path will work before runtime.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057400"/>
            <a:ext cx="3337560" cy="210312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185416"/>
            <a:ext cx="3008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Before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51176"/>
            <a:ext cx="3008376" cy="1536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Check services, roles, Actions, package/feed version, task bindings, and evidence fields.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2057400"/>
            <a:ext cx="3337560" cy="210312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185416"/>
            <a:ext cx="3008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During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551176"/>
            <a:ext cx="3008376" cy="1536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Expose reviewer field rendering, task lifecycle, and structured return status.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11311" y="2057400"/>
            <a:ext cx="3337560" cy="2103120"/>
          </a:xfrm>
          <a:prstGeom prst="rect">
            <a:avLst/>
          </a:prstGeom>
          <a:solidFill>
            <a:srgbClr val="FAF9F5"/>
          </a:solidFill>
          <a:ln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2185416"/>
            <a:ext cx="3008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B365D"/>
                </a:solidFill>
                <a:latin typeface="Georgia"/>
              </a:rPr>
              <a:t>After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3" y="2551176"/>
            <a:ext cx="3008376" cy="1536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>
                <a:solidFill>
                  <a:srgbClr val="3D3D3A"/>
                </a:solidFill>
                <a:latin typeface="Georgia"/>
              </a:rPr>
              <a:t>Reconstruct agent event, policy decision, human action, versions, and audit payload in one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This is framed as actionable product feedback, not a complaint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11 · CODING AGENT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Codex helped build and verify the submission pack.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1B365D"/>
                </a:solidFill>
                <a:latin typeface="Georgia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8641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>
                <a:solidFill>
                  <a:srgbClr val="3D3D3A"/>
                </a:solidFill>
                <a:latin typeface="Georgia"/>
              </a:rPr>
              <a:t>Python core, schemas, policy engine, evidence packets, audit bundles.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50592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1B365D"/>
                </a:solidFill>
                <a:latin typeface="Georgia"/>
              </a:rPr>
              <a:t>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450592"/>
            <a:ext cx="8641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>
                <a:solidFill>
                  <a:srgbClr val="3D3D3A"/>
                </a:solidFill>
                <a:latin typeface="Georgia"/>
              </a:rPr>
              <a:t>Unit tests, eval harness, UiPath CLI runbooks, submission sanity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72384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1B365D"/>
                </a:solidFill>
                <a:latin typeface="Georgia"/>
              </a:rPr>
              <a:t>Documented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72384"/>
            <a:ext cx="8641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>
                <a:solidFill>
                  <a:srgbClr val="3D3D3A"/>
                </a:solidFill>
                <a:latin typeface="Georgia"/>
              </a:rPr>
              <a:t>Platform proof map, product feedback, demo storyboard, coding-agent manifest.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941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1B365D"/>
                </a:solidFill>
                <a:latin typeface="Georgia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94176"/>
            <a:ext cx="8641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>
                <a:solidFill>
                  <a:srgbClr val="3D3D3A"/>
                </a:solidFill>
                <a:latin typeface="Georgia"/>
              </a:rPr>
              <a:t>Codex is build-time assistance, not runtime case authority.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Runtime authority remains: deterministic policy, UiPath orchestration, and human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6A64"/>
                </a:solidFill>
                <a:latin typeface="Menlo"/>
              </a:rPr>
              <a:t>12 ·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41413"/>
                </a:solidFill>
                <a:latin typeface="Georgia"/>
              </a:rPr>
              <a:t>ClearPath Recovery makes agentic service recovery safer without making it toothless.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0">
                <a:solidFill>
                  <a:srgbClr val="1B365D"/>
                </a:solidFill>
                <a:latin typeface="Georgia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43200"/>
            <a:ext cx="2057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40" b="0">
                <a:solidFill>
                  <a:srgbClr val="3D3D3A"/>
                </a:solidFill>
                <a:latin typeface="Georgia"/>
              </a:rPr>
              <a:t>closures without fresh authoritative service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3591" y="205740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0">
                <a:solidFill>
                  <a:srgbClr val="1B365D"/>
                </a:solidFill>
                <a:latin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1" y="2743200"/>
            <a:ext cx="2057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40" b="0">
                <a:solidFill>
                  <a:srgbClr val="3D3D3A"/>
                </a:solidFill>
                <a:latin typeface="Georgia"/>
              </a:rPr>
              <a:t>exception paths proven visibly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205740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0">
                <a:solidFill>
                  <a:srgbClr val="1B365D"/>
                </a:solidFill>
                <a:latin typeface="Georgia"/>
              </a:rPr>
              <a:t>9/9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743200"/>
            <a:ext cx="2057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40" b="0">
                <a:solidFill>
                  <a:srgbClr val="3D3D3A"/>
                </a:solidFill>
                <a:latin typeface="Georgia"/>
              </a:rPr>
              <a:t>eval scenarios represented in Test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1432" y="205740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0">
                <a:solidFill>
                  <a:srgbClr val="1B365D"/>
                </a:solidFill>
                <a:latin typeface="Georgia"/>
              </a:rPr>
              <a:t>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743200"/>
            <a:ext cx="2057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40" b="0">
                <a:solidFill>
                  <a:srgbClr val="3D3D3A"/>
                </a:solidFill>
                <a:latin typeface="Georgia"/>
              </a:rPr>
              <a:t>local tests passing in submission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0">
                <a:solidFill>
                  <a:srgbClr val="1B365D"/>
                </a:solidFill>
                <a:latin typeface="Georgia"/>
              </a:rPr>
              <a:t>Agents interpret. Policy decides. Maestro routes. Humans own exceptions.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6A64"/>
                </a:solidFill>
                <a:latin typeface="Menlo"/>
              </a:rPr>
              <a:t>SERVICE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B6A64"/>
                </a:solidFill>
                <a:latin typeface="Menl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ClearPath Recovery</dc:title>
  <dc:subject>UiPath AgentHack Maestro Case presentation deck</dc:subject>
  <dc:creator>Arshdeep Singh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